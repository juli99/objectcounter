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199950" cy="35999928"/>
  <p:notesSz cx="35999928" cy="251999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199950" cy="6400800"/>
          </a:xfrm>
          <a:prstGeom prst="rect">
            <a:avLst/>
          </a:prstGeom>
          <a:solidFill>
            <a:srgbClr val="0B3C74"/>
          </a:solidFill>
          <a:ln w="12700">
            <a:solidFill>
              <a:srgbClr val="0B3C7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85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Coin Counts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coins on a textured pad with classical image processing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554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Yulia Rapana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 ·  Holon Institute of Technology (HIT)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7007840" y="2057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007840" y="27432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Cornel Lustig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7007840" y="43891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semester 2026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949440"/>
            <a:ext cx="23736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8092440"/>
            <a:ext cx="1154841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 coins at a glance; a computer sees only pixels. These phone photos add three traps: a white pad full of folds, dark or motion-blurred shots, and round buttons the size of a coin.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only the coins with fixed classical rules, with no training and no machine learning.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such rules cope with these conditions, and which objects does the program get wrong?</a:t>
            </a:r>
            <a:endParaRPr lang="en-US" sz="3400" dirty="0"/>
          </a:p>
        </p:txBody>
      </p:sp>
      <p:pic>
        <p:nvPicPr>
          <p:cNvPr id="12" name="Image 0" descr="C:\Users\יוליה\Desktop\classical-object-counter\report\figures\poster_inp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2920" y="7909560"/>
            <a:ext cx="10162605" cy="48074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" y="13121640"/>
            <a:ext cx="23736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14264640"/>
            <a:ext cx="11548415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large median filter models the pad and light; each pixel gets a Lab difference score.</a:t>
            </a:r>
            <a:endParaRPr lang="en-US" sz="3400" dirty="0"/>
          </a:p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Laplacian of Gaussian finds round, coin-sized peaks.</a:t>
            </a:r>
            <a:endParaRPr lang="en-US" sz="3400" dirty="0"/>
          </a:p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Hessian shape test rejects ridges; grayscale opening removes seams.</a:t>
            </a:r>
            <a:endParaRPr lang="en-US" sz="3400" dirty="0"/>
          </a:p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coins: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circles separate what LoG merges.</a:t>
            </a:r>
            <a:endParaRPr lang="en-US" sz="3400" dirty="0"/>
          </a:p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coin: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black-hat finds sewing holes; blue or pink is rejected.</a:t>
            </a:r>
            <a:endParaRPr lang="en-US" sz="3400" dirty="0"/>
          </a:p>
          <a:p>
            <a:pPr marL="381000" indent="-381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3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photos, 328 hand-counted coins; every circle checked as TP, FP or FN.</a:t>
            </a:r>
            <a:endParaRPr lang="en-US" sz="3400" dirty="0"/>
          </a:p>
        </p:txBody>
      </p:sp>
      <p:pic>
        <p:nvPicPr>
          <p:cNvPr id="15" name="Image 1" descr="C:\Users\יוליה\Desktop\classical-object-counter\report\figures\fig01_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015" y="14264640"/>
            <a:ext cx="11548415" cy="1866032"/>
          </a:xfrm>
          <a:prstGeom prst="rect">
            <a:avLst/>
          </a:prstGeom>
        </p:spPr>
      </p:pic>
      <p:pic>
        <p:nvPicPr>
          <p:cNvPr id="16" name="Image 2" descr="C:\Users\יוליה\Desktop\classical-object-counter\report\figures\fig02_stag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0015" y="16450712"/>
            <a:ext cx="11548415" cy="32506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20015" y="19792817"/>
            <a:ext cx="1154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foreground map → pad mask → LoG → raw peaks (mostly folds) → 14 coins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20985480"/>
            <a:ext cx="23736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5400" dirty="0"/>
          </a:p>
        </p:txBody>
      </p:sp>
      <p:sp>
        <p:nvSpPr>
          <p:cNvPr id="19" name="Shape 14"/>
          <p:cNvSpPr/>
          <p:nvPr/>
        </p:nvSpPr>
        <p:spPr>
          <a:xfrm>
            <a:off x="731520" y="22082760"/>
            <a:ext cx="5659907" cy="2468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22265640"/>
            <a:ext cx="5659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</a:t>
            </a:r>
            <a:endParaRPr lang="en-US" sz="72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2327148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2382012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of 328 coins found</a:t>
            </a:r>
            <a:endParaRPr lang="en-US" sz="3200" dirty="0"/>
          </a:p>
        </p:txBody>
      </p:sp>
      <p:sp>
        <p:nvSpPr>
          <p:cNvPr id="23" name="Shape 18"/>
          <p:cNvSpPr/>
          <p:nvPr/>
        </p:nvSpPr>
        <p:spPr>
          <a:xfrm>
            <a:off x="6757187" y="22082760"/>
            <a:ext cx="5659907" cy="2468880"/>
          </a:xfrm>
          <a:prstGeom prst="rect">
            <a:avLst/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757187" y="22265640"/>
            <a:ext cx="5659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7200" dirty="0"/>
          </a:p>
        </p:txBody>
      </p:sp>
      <p:sp>
        <p:nvSpPr>
          <p:cNvPr id="25" name="Text 20"/>
          <p:cNvSpPr txBox="1"/>
          <p:nvPr/>
        </p:nvSpPr>
        <p:spPr>
          <a:xfrm>
            <a:off x="6757187" y="2327148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3400" dirty="0"/>
          </a:p>
        </p:txBody>
      </p:sp>
      <p:sp>
        <p:nvSpPr>
          <p:cNvPr id="26" name="Text 21"/>
          <p:cNvSpPr txBox="1"/>
          <p:nvPr/>
        </p:nvSpPr>
        <p:spPr>
          <a:xfrm>
            <a:off x="6757187" y="2382012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of 333 detections</a:t>
            </a:r>
            <a:endParaRPr lang="en-US" sz="3200" dirty="0"/>
          </a:p>
        </p:txBody>
      </p:sp>
      <p:sp>
        <p:nvSpPr>
          <p:cNvPr id="27" name="Shape 22"/>
          <p:cNvSpPr/>
          <p:nvPr/>
        </p:nvSpPr>
        <p:spPr>
          <a:xfrm>
            <a:off x="12782855" y="22082760"/>
            <a:ext cx="5659907" cy="2468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2782855" y="22265640"/>
            <a:ext cx="5659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34</a:t>
            </a:r>
            <a:endParaRPr lang="en-US" sz="7200" dirty="0"/>
          </a:p>
        </p:txBody>
      </p:sp>
      <p:sp>
        <p:nvSpPr>
          <p:cNvPr id="29" name="Text 24"/>
          <p:cNvSpPr txBox="1"/>
          <p:nvPr/>
        </p:nvSpPr>
        <p:spPr>
          <a:xfrm>
            <a:off x="12782855" y="2327148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/ missed</a:t>
            </a:r>
            <a:endParaRPr lang="en-US" sz="3400" dirty="0"/>
          </a:p>
        </p:txBody>
      </p:sp>
      <p:sp>
        <p:nvSpPr>
          <p:cNvPr id="30" name="Text 25"/>
          <p:cNvSpPr txBox="1"/>
          <p:nvPr/>
        </p:nvSpPr>
        <p:spPr>
          <a:xfrm>
            <a:off x="12782855" y="2382012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non-coins · FN coins</a:t>
            </a:r>
            <a:endParaRPr lang="en-US" sz="3200" dirty="0"/>
          </a:p>
        </p:txBody>
      </p:sp>
      <p:sp>
        <p:nvSpPr>
          <p:cNvPr id="31" name="Shape 26"/>
          <p:cNvSpPr/>
          <p:nvPr/>
        </p:nvSpPr>
        <p:spPr>
          <a:xfrm>
            <a:off x="18808522" y="22082760"/>
            <a:ext cx="5659907" cy="2468880"/>
          </a:xfrm>
          <a:prstGeom prst="rect">
            <a:avLst/>
          </a:prstGeom>
          <a:solidFill>
            <a:srgbClr val="E7F6EE"/>
          </a:solidFill>
          <a:ln w="12700">
            <a:solidFill>
              <a:srgbClr val="E7F6E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8808522" y="22265640"/>
            <a:ext cx="5659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7200" dirty="0"/>
          </a:p>
        </p:txBody>
      </p:sp>
      <p:sp>
        <p:nvSpPr>
          <p:cNvPr id="33" name="Text 28"/>
          <p:cNvSpPr txBox="1"/>
          <p:nvPr/>
        </p:nvSpPr>
        <p:spPr>
          <a:xfrm>
            <a:off x="18808522" y="2327148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counts</a:t>
            </a:r>
            <a:endParaRPr lang="en-US" sz="3400" dirty="0"/>
          </a:p>
        </p:txBody>
      </p:sp>
      <p:sp>
        <p:nvSpPr>
          <p:cNvPr id="34" name="Text 29"/>
          <p:cNvSpPr txBox="1"/>
          <p:nvPr/>
        </p:nvSpPr>
        <p:spPr>
          <a:xfrm>
            <a:off x="18808522" y="23820120"/>
            <a:ext cx="5659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with no mistake</a:t>
            </a:r>
            <a:endParaRPr lang="en-US" sz="3200" dirty="0"/>
          </a:p>
        </p:txBody>
      </p:sp>
      <p:pic>
        <p:nvPicPr>
          <p:cNvPr id="35" name="Image 3" descr="C:\Users\יוליה\Desktop\classical-object-counter\report\figures\poster_fp_f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393" y="24825960"/>
            <a:ext cx="9700668" cy="5539354"/>
          </a:xfrm>
          <a:prstGeom prst="rect">
            <a:avLst/>
          </a:prstGeom>
        </p:spPr>
      </p:pic>
      <p:pic>
        <p:nvPicPr>
          <p:cNvPr id="36" name="Image 4" descr="C:\Users\יוליה\Desktop\classical-object-counter\report\figures\poster_fp_caus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888" y="24825960"/>
            <a:ext cx="9700668" cy="561301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31520" y="30484699"/>
            <a:ext cx="1154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detections (up) and missed coins (down) per photo</a:t>
            </a:r>
            <a:endParaRPr lang="en-US" sz="3200" dirty="0"/>
          </a:p>
        </p:txBody>
      </p:sp>
      <p:sp>
        <p:nvSpPr>
          <p:cNvPr id="38" name="Text 31"/>
          <p:cNvSpPr txBox="1"/>
          <p:nvPr/>
        </p:nvSpPr>
        <p:spPr>
          <a:xfrm>
            <a:off x="12920015" y="30484699"/>
            <a:ext cx="1154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mistaken for a coin (39 FP)</a:t>
            </a:r>
            <a:endParaRPr lang="en-US" sz="3200" dirty="0"/>
          </a:p>
        </p:txBody>
      </p:sp>
      <p:sp>
        <p:nvSpPr>
          <p:cNvPr id="39" name="Text 32"/>
          <p:cNvSpPr txBox="1"/>
          <p:nvPr/>
        </p:nvSpPr>
        <p:spPr>
          <a:xfrm>
            <a:off x="731520" y="31216219"/>
            <a:ext cx="1154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5400" dirty="0"/>
          </a:p>
        </p:txBody>
      </p:sp>
      <p:sp>
        <p:nvSpPr>
          <p:cNvPr id="40" name="Text 33"/>
          <p:cNvSpPr txBox="1"/>
          <p:nvPr/>
        </p:nvSpPr>
        <p:spPr>
          <a:xfrm>
            <a:off x="12920015" y="31216219"/>
            <a:ext cx="1154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5400" dirty="0"/>
          </a:p>
        </p:txBody>
      </p:sp>
      <p:sp>
        <p:nvSpPr>
          <p:cNvPr id="41" name="Text 34"/>
          <p:cNvSpPr txBox="1"/>
          <p:nvPr/>
        </p:nvSpPr>
        <p:spPr>
          <a:xfrm>
            <a:off x="731520" y="32313499"/>
            <a:ext cx="11548415" cy="295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only the coins under changing conditions.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 recall, 88.3% precision with classical rules only; all 98 coins found on clean photos and 9 of 12 buttons rejected. Dark photos add false coins; piles hide real ones.</a:t>
            </a:r>
            <a:endParaRPr lang="en-US" sz="3400" dirty="0"/>
          </a:p>
        </p:txBody>
      </p:sp>
      <p:sp>
        <p:nvSpPr>
          <p:cNvPr id="42" name="Text 35"/>
          <p:cNvSpPr txBox="1"/>
          <p:nvPr/>
        </p:nvSpPr>
        <p:spPr>
          <a:xfrm>
            <a:off x="12920015" y="32313499"/>
            <a:ext cx="8713775" cy="295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merge detections along the blur direction, drop the pad's white hem from the mask, fit partial circles at the frame, and use rim colour for grey buttons.</a:t>
            </a:r>
            <a:endParaRPr lang="en-US" sz="3400" dirty="0"/>
          </a:p>
        </p:txBody>
      </p:sp>
      <p:pic>
        <p:nvPicPr>
          <p:cNvPr id="43" name="Image 5" descr="C:\Users\יוליה\Desktop\classical-object-counter\report\figures\qr_rep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9550" y="32359219"/>
            <a:ext cx="2468880" cy="246888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21816670" y="34873819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Coin Counts</dc:title>
  <dc:subject>PptxGenJS Presentation</dc:subject>
  <dc:creator>Yulia Rapana</dc:creator>
  <cp:lastModifiedBy>Yulia Rapana</cp:lastModifiedBy>
  <cp:revision>1</cp:revision>
  <dcterms:created xsi:type="dcterms:W3CDTF">2026-09-29T12:09:04Z</dcterms:created>
  <dcterms:modified xsi:type="dcterms:W3CDTF">2026-09-29T12:09:04Z</dcterms:modified>
</cp:coreProperties>
</file>